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29" r:id="rId1"/>
  </p:sldMasterIdLst>
  <p:notesMasterIdLst>
    <p:notesMasterId r:id="rId3"/>
  </p:notesMasterIdLst>
  <p:sldIdLst>
    <p:sldId id="258" r:id="rId2"/>
  </p:sldIdLst>
  <p:sldSz cx="6858000" cy="9906000" type="A4"/>
  <p:notesSz cx="7010400" cy="92964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Calibri" panose="020F0502020204030204" pitchFamily="34" charset="0"/>
        <a:ea typeface="+mn-ea"/>
        <a:cs typeface="WenQuanYi Micro Hei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Calibri" panose="020F0502020204030204" pitchFamily="34" charset="0"/>
        <a:ea typeface="+mn-ea"/>
        <a:cs typeface="WenQuanYi Micro Hei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Calibri" panose="020F0502020204030204" pitchFamily="34" charset="0"/>
        <a:ea typeface="+mn-ea"/>
        <a:cs typeface="WenQuanYi Micro Hei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Calibri" panose="020F0502020204030204" pitchFamily="34" charset="0"/>
        <a:ea typeface="+mn-ea"/>
        <a:cs typeface="WenQuanYi Micro Hei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Calibri" panose="020F0502020204030204" pitchFamily="34" charset="0"/>
        <a:ea typeface="+mn-ea"/>
        <a:cs typeface="WenQuanYi Micro Hei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anose="020F0502020204030204" pitchFamily="34" charset="0"/>
        <a:ea typeface="+mn-ea"/>
        <a:cs typeface="WenQuanYi Micro Hei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anose="020F0502020204030204" pitchFamily="34" charset="0"/>
        <a:ea typeface="+mn-ea"/>
        <a:cs typeface="WenQuanYi Micro Hei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anose="020F0502020204030204" pitchFamily="34" charset="0"/>
        <a:ea typeface="+mn-ea"/>
        <a:cs typeface="WenQuanYi Micro Hei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anose="020F0502020204030204" pitchFamily="34" charset="0"/>
        <a:ea typeface="+mn-ea"/>
        <a:cs typeface="WenQuanYi Micro Hei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8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B3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65" autoAdjust="0"/>
    <p:restoredTop sz="94660"/>
  </p:normalViewPr>
  <p:slideViewPr>
    <p:cSldViewPr>
      <p:cViewPr varScale="1">
        <p:scale>
          <a:sx n="79" d="100"/>
          <a:sy n="79" d="100"/>
        </p:scale>
        <p:origin x="3606" y="120"/>
      </p:cViewPr>
      <p:guideLst>
        <p:guide orient="horz" pos="2160"/>
        <p:guide pos="2880"/>
        <p:guide orient="horz" pos="234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929"/>
        <p:guide pos="2208"/>
        <p:guide orient="horz" pos="2928"/>
        <p:guide pos="22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 noChangeArrowheads="1"/>
          </p:cNvSpPr>
          <p:nvPr/>
        </p:nvSpPr>
        <p:spPr bwMode="auto">
          <a:xfrm>
            <a:off x="0" y="0"/>
            <a:ext cx="7010400" cy="92964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6629" tIns="48315" rIns="96629" bIns="48315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VE" altLang="es-VE"/>
          </a:p>
        </p:txBody>
      </p:sp>
      <p:sp>
        <p:nvSpPr>
          <p:cNvPr id="7171" name="AutoShape 2"/>
          <p:cNvSpPr>
            <a:spLocks noChangeArrowheads="1"/>
          </p:cNvSpPr>
          <p:nvPr/>
        </p:nvSpPr>
        <p:spPr bwMode="auto">
          <a:xfrm>
            <a:off x="0" y="0"/>
            <a:ext cx="7010400" cy="92964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6629" tIns="48315" rIns="96629" bIns="48315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VE" altLang="es-VE"/>
          </a:p>
        </p:txBody>
      </p:sp>
      <p:sp>
        <p:nvSpPr>
          <p:cNvPr id="7172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706438"/>
            <a:ext cx="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4"/>
          <p:cNvSpPr>
            <a:spLocks noGrp="1" noChangeArrowheads="1"/>
          </p:cNvSpPr>
          <p:nvPr>
            <p:ph type="body"/>
          </p:nvPr>
        </p:nvSpPr>
        <p:spPr bwMode="auto">
          <a:xfrm>
            <a:off x="701042" y="4416269"/>
            <a:ext cx="5603475" cy="41777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s-VE" altLang="es-VE" noProof="0"/>
          </a:p>
        </p:txBody>
      </p:sp>
    </p:spTree>
    <p:extLst>
      <p:ext uri="{BB962C8B-B14F-4D97-AF65-F5344CB8AC3E}">
        <p14:creationId xmlns:p14="http://schemas.microsoft.com/office/powerpoint/2010/main" val="2053757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5CA7D76C-91DB-4704-BFAB-F181015B76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98700" y="706438"/>
            <a:ext cx="2413000" cy="34861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8ADD4199-804E-41BD-9FBF-2ECB08C16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" y="4415792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6629" tIns="48315" rIns="96629" bIns="48315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s-VE" altLang="es-V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3077282"/>
            <a:ext cx="5829300" cy="212336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E1FBD6-F7A7-44A1-AFC3-A008E4A770C1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1412-53D1-41B8-8B5D-81BB3453613D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388625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FD4FB3-30FE-49AD-A697-27DC086FC389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82CF1-79A6-4EB4-8D58-F87BED34418C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85293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6365523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62F8A5-1C3F-431B-9A4B-5EA2FCE3E30B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2AFD5-6658-4C03-B407-91E46B4201F2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41857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311401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311401"/>
            <a:ext cx="3028950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F94D86-E98B-4418-B103-D8BF118308BE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683B5-05E7-4133-96F0-A7277979D338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317660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0477AA-0ECD-4DE5-81A6-9D6442E8F89E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40C3E-EDB2-41AB-A64D-3ECD813E8B28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69544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CFCE20B-702C-4125-9C06-E110C007B380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0A43C-DFB8-41BF-A70E-E662862F309D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739028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05FD7-B4A9-4F29-BDF3-C390D2E3FE51}" type="datetimeFigureOut">
              <a:rPr lang="es-VE" smtClean="0"/>
              <a:pPr/>
              <a:t>13/5/2026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D0181-8760-43E5-AD65-9E9A8CF015EB}" type="slidenum">
              <a:rPr lang="es-VE" smtClean="0"/>
              <a:pPr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4707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774C967-46D1-4F96-98A1-27B662D6195F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DB97D-5440-4F05-9900-ECD4441EE900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406908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934200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752822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5813C2-E566-46B3-8B0C-78E124ECC87F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3F7B-FF20-48EA-90B7-2BE9C18D9EE4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67226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187126-46C2-4956-B1B4-752DDB425921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239B5-8C16-44ED-9CDE-1792E85913E4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4160639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96700"/>
            <a:ext cx="1543050" cy="845220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96700"/>
            <a:ext cx="4514850" cy="845220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9FBC53-14EC-4C08-838F-FB4282E122D2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B85C-3376-4C70-8EC0-41AF16D011C1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373795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66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311401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9181395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74C967-46D1-4F96-98A1-27B662D6195F}" type="datetimeFigureOut">
              <a:rPr lang="es-VE" smtClean="0"/>
              <a:pPr>
                <a:defRPr/>
              </a:pPr>
              <a:t>13/5/2026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9181395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9181395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DB97D-5440-4F05-9900-ECD4441EE900}" type="slidenum">
              <a:rPr lang="es-VE" altLang="es-VE" smtClean="0"/>
              <a:pPr/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861604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2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7 CuadroTexto"/>
          <p:cNvSpPr txBox="1"/>
          <p:nvPr/>
        </p:nvSpPr>
        <p:spPr>
          <a:xfrm>
            <a:off x="201307" y="206770"/>
            <a:ext cx="6455923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V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es-ES" sz="1400" b="1" dirty="0">
                <a:latin typeface="Arial" pitchFamily="34" charset="0"/>
                <a:cs typeface="Arial" pitchFamily="34" charset="0"/>
              </a:rPr>
              <a:t>REPÚBLICA TUNECINA</a:t>
            </a:r>
          </a:p>
          <a:p>
            <a:pPr algn="ctr" fontAlgn="auto"/>
            <a:r>
              <a:rPr lang="es-ES" sz="1400" b="1" dirty="0">
                <a:latin typeface="Arial" pitchFamily="34" charset="0"/>
                <a:cs typeface="Arial" pitchFamily="34" charset="0"/>
              </a:rPr>
              <a:t>FORO INTERNACIONAL DE DAKAR SOBRE LA PAZ Y LA SEGURIDAD EN ÁFRICA</a:t>
            </a:r>
            <a:endParaRPr lang="es-VE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s-VE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Presidente: </a:t>
            </a:r>
            <a:r>
              <a:rPr lang="es-ES" sz="1400" b="1" dirty="0" err="1">
                <a:latin typeface="Arial" panose="020B0604020202020204" pitchFamily="34" charset="0"/>
                <a:cs typeface="Arial" pitchFamily="34" charset="0"/>
              </a:rPr>
              <a:t>Kais</a:t>
            </a:r>
            <a:r>
              <a:rPr lang="es-ES" sz="1400" b="1" dirty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itchFamily="34" charset="0"/>
              </a:rPr>
              <a:t>Saied</a:t>
            </a:r>
            <a:r>
              <a:rPr lang="es-ES" sz="1400" b="1" dirty="0">
                <a:latin typeface="Arial" panose="020B0604020202020204" pitchFamily="34" charset="0"/>
                <a:cs typeface="Arial" pitchFamily="34" charset="0"/>
              </a:rPr>
              <a:t> </a:t>
            </a:r>
          </a:p>
          <a:p>
            <a:pPr>
              <a:buClr>
                <a:schemeClr val="dk1"/>
              </a:buClr>
              <a:buSzPts val="1100"/>
            </a:pPr>
            <a:r>
              <a:rPr lang="es-VE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Canciller:</a:t>
            </a:r>
            <a:r>
              <a:rPr lang="es-VE" sz="1400" b="1" dirty="0">
                <a:latin typeface="Arial" panose="020B0604020202020204" pitchFamily="34" charset="0"/>
                <a:cs typeface="Arial" panose="020B0604020202020204" pitchFamily="34" charset="0"/>
              </a:rPr>
              <a:t> Mohamed Ali </a:t>
            </a:r>
            <a:r>
              <a:rPr lang="es-VE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Nafti</a:t>
            </a:r>
            <a:r>
              <a:rPr lang="es-VE" sz="1400" dirty="0">
                <a:latin typeface="Arial" panose="020B0604020202020204" pitchFamily="34" charset="0"/>
                <a:cs typeface="Arial" panose="020B0604020202020204" pitchFamily="34" charset="0"/>
              </a:rPr>
              <a:t> (66 años)</a:t>
            </a:r>
            <a:endParaRPr lang="es-ES" sz="1400" dirty="0">
              <a:latin typeface="Arial" panose="020B0604020202020204" pitchFamily="34" charset="0"/>
              <a:cs typeface="Arial" pitchFamily="34" charset="0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s-VE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ERD: </a:t>
            </a:r>
            <a:r>
              <a:rPr lang="es-VE" sz="1400" dirty="0">
                <a:latin typeface="Arial" pitchFamily="34" charset="0"/>
                <a:cs typeface="Arial" pitchFamily="34" charset="0"/>
              </a:rPr>
              <a:t>26 de marzo de 1965</a:t>
            </a:r>
            <a:r>
              <a:rPr lang="es-V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VE" sz="1400" dirty="0">
                <a:latin typeface="Arial" panose="020B0604020202020204" pitchFamily="34" charset="0"/>
                <a:cs typeface="Arial" panose="020B0604020202020204" pitchFamily="34" charset="0"/>
              </a:rPr>
              <a:t>(61 años</a:t>
            </a:r>
            <a:r>
              <a:rPr lang="es-V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>
              <a:buClr>
                <a:schemeClr val="dk1"/>
              </a:buClr>
              <a:buSzPts val="1100"/>
            </a:pPr>
            <a:r>
              <a:rPr lang="es-VE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Embajador en Túnez: </a:t>
            </a:r>
            <a:r>
              <a:rPr lang="es-VE" sz="1400" dirty="0">
                <a:latin typeface="Arial" panose="020B0604020202020204" pitchFamily="34" charset="0"/>
                <a:cs typeface="Arial" panose="020B0604020202020204" pitchFamily="34" charset="0"/>
              </a:rPr>
              <a:t>Reinaldo Bolívar</a:t>
            </a:r>
          </a:p>
          <a:p>
            <a:pPr marL="171450" lvl="0" indent="-171450" algn="just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VE" sz="1400" b="1" dirty="0">
                <a:latin typeface="Arial" pitchFamily="34" charset="0"/>
                <a:cs typeface="Arial" pitchFamily="34" charset="0"/>
              </a:rPr>
              <a:t>Recordar</a:t>
            </a:r>
            <a:r>
              <a:rPr lang="es-VE" sz="1400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el fructífero encuentro telefónico entre ambos cancilleres, el 16/03/2026, en el marco del 70° aniversario de la Independencia de Túnez (20 de marzo) y 61° años de RR.DD (26 de marzo). Coincidieron en la importancia de ampliar su colaboración en diversos sectores y la necesidad de promover el respeto a la Carta de la ONU.</a:t>
            </a:r>
          </a:p>
          <a:p>
            <a:pPr marL="171450" lvl="0" indent="-171450" algn="just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b="1" dirty="0">
                <a:latin typeface="Arial" pitchFamily="34" charset="0"/>
                <a:cs typeface="Arial" pitchFamily="34" charset="0"/>
              </a:rPr>
              <a:t>Saludar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 el rol activo de Túnez en defensa de la integración africana, árabe y de la causa palestina.</a:t>
            </a:r>
          </a:p>
          <a:p>
            <a:pPr marL="171450" indent="-171450" algn="just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b="1" dirty="0">
                <a:latin typeface="Arial" pitchFamily="34" charset="0"/>
                <a:cs typeface="Arial" pitchFamily="34" charset="0"/>
              </a:rPr>
              <a:t>Congratular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por el crecimiento sostenido de la economía tunecina, con un registro del 2,5% durante el 2025. Destacar la disposición de fortalecer la cooperación en materia económica y comercial.</a:t>
            </a:r>
          </a:p>
          <a:p>
            <a:pPr marL="171450" indent="-171450" algn="just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b="1" dirty="0">
                <a:latin typeface="Arial" pitchFamily="34" charset="0"/>
                <a:cs typeface="Arial" pitchFamily="34" charset="0"/>
              </a:rPr>
              <a:t>Exponer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el</a:t>
            </a:r>
            <a:r>
              <a:rPr lang="es-E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interés de realizar una visita oficial a Túnez, inicialmente planteada para abril, la cual permitirá afianzar las relaciones de amistad y cooperación.</a:t>
            </a:r>
          </a:p>
          <a:p>
            <a:pPr marL="171450" indent="-171450" algn="just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VE" sz="1400" b="1" dirty="0">
                <a:latin typeface="Arial" panose="020B0604020202020204" pitchFamily="34" charset="0"/>
                <a:ea typeface="Arial" panose="020B0604020202020204" pitchFamily="34" charset="0"/>
              </a:rPr>
              <a:t>Resaltar </a:t>
            </a:r>
            <a:r>
              <a:rPr lang="es-VE" sz="1400" dirty="0">
                <a:latin typeface="Arial" panose="020B0604020202020204" pitchFamily="34" charset="0"/>
                <a:ea typeface="Arial" panose="020B0604020202020204" pitchFamily="34" charset="0"/>
              </a:rPr>
              <a:t>que se tiene previsto para el I Trimestre 2026 la realización de videoconferencias entre los ministerios especializados en el área comercial.</a:t>
            </a:r>
          </a:p>
          <a:p>
            <a:pPr marL="171450" indent="-171450" algn="just" fontAlgn="auto">
              <a:spcBef>
                <a:spcPts val="600"/>
              </a:spcBef>
              <a:buSzPts val="1250"/>
              <a:buFont typeface="Arial" panose="020B0604020202020204" pitchFamily="34" charset="0"/>
              <a:buChar char="•"/>
            </a:pPr>
            <a:r>
              <a:rPr lang="es-VE" sz="1400" b="1" dirty="0">
                <a:latin typeface="Arial" panose="020B0604020202020204" pitchFamily="34" charset="0"/>
                <a:ea typeface="Arial" panose="020B0604020202020204" pitchFamily="34" charset="0"/>
              </a:rPr>
              <a:t>Manifestar </a:t>
            </a:r>
            <a:r>
              <a:rPr lang="es-VE" sz="1400" dirty="0">
                <a:latin typeface="Arial" panose="020B0604020202020204" pitchFamily="34" charset="0"/>
                <a:ea typeface="Arial" panose="020B0604020202020204" pitchFamily="34" charset="0"/>
              </a:rPr>
              <a:t>el deseo de suscribir un acuerdo ASA con Túnez, instrumento que se encuentra bajo la revisión de la cancillería tunecina.</a:t>
            </a:r>
            <a:endParaRPr lang="es-ES" sz="14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71450" lvl="0" indent="-171450" algn="just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VE" sz="1400" b="1" dirty="0">
                <a:latin typeface="Arial" panose="020B0604020202020204" pitchFamily="34" charset="0"/>
                <a:cs typeface="Arial" pitchFamily="34" charset="0"/>
              </a:rPr>
              <a:t>Incentivar</a:t>
            </a:r>
            <a:r>
              <a:rPr lang="es-VE" sz="1400" dirty="0">
                <a:latin typeface="Arial" panose="020B0604020202020204" pitchFamily="34" charset="0"/>
                <a:cs typeface="Arial" pitchFamily="34" charset="0"/>
              </a:rPr>
              <a:t> el intercambio entre Academias Diplomáticas, a través de la suscripción de un Memorándum de Entendimiento. </a:t>
            </a:r>
          </a:p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b="1" dirty="0">
                <a:latin typeface="Arial" pitchFamily="34" charset="0"/>
                <a:cs typeface="Arial" pitchFamily="34" charset="0"/>
              </a:rPr>
              <a:t>Congratularse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por</a:t>
            </a:r>
            <a:r>
              <a:rPr lang="es-E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los intercambios bilaterales en materia parlamentaria.</a:t>
            </a:r>
            <a:r>
              <a:rPr lang="es-ES" sz="1400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b="1" dirty="0">
                <a:latin typeface="Arial" pitchFamily="34" charset="0"/>
                <a:cs typeface="Arial" pitchFamily="34" charset="0"/>
              </a:rPr>
              <a:t>Expresar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el interés de  ampliar los intercambios en materia turística, con la visita de operadores turísticos tunecinos al país.  </a:t>
            </a:r>
          </a:p>
          <a:p>
            <a:pPr marL="171450" indent="-171450" algn="just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b="1" dirty="0">
                <a:latin typeface="Arial" panose="020B0604020202020204" pitchFamily="34" charset="0"/>
                <a:ea typeface="Liberation Serif;Times New Roma"/>
                <a:cs typeface="Arial" panose="020B0604020202020204" pitchFamily="34" charset="0"/>
              </a:rPr>
              <a:t>Referir</a:t>
            </a:r>
            <a:r>
              <a:rPr lang="es-ES" sz="1400" dirty="0">
                <a:latin typeface="Arial" panose="020B0604020202020204" pitchFamily="34" charset="0"/>
                <a:ea typeface="Liberation Serif;Times New Roma"/>
                <a:cs typeface="Arial" panose="020B0604020202020204" pitchFamily="34" charset="0"/>
              </a:rPr>
              <a:t> las acciones del 3.1.2026, y el secuestro del Presidente Nicolás Maduro. Explicar que la Presidenta Encargada Delcy Rodríguez Gómez ejerce control efectivo de las instituciones nacionales y que Venezuela es un Estado soberano, independiente, que mantiene relaciones políticas, económicas y energéticas con EE.UU en el marco del respeto mutuo, no supeditada a este.</a:t>
            </a:r>
            <a:endParaRPr lang="es-ES" sz="1400" dirty="0">
              <a:latin typeface="Arial" pitchFamily="34" charset="0"/>
              <a:cs typeface="Arial" pitchFamily="34" charset="0"/>
            </a:endParaRPr>
          </a:p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VE" sz="1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Alerta: </a:t>
            </a:r>
            <a:r>
              <a:rPr lang="es-VE" sz="1400" dirty="0">
                <a:latin typeface="Arial" pitchFamily="34" charset="0"/>
                <a:cs typeface="Arial" pitchFamily="34" charset="0"/>
              </a:rPr>
              <a:t>Túnez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mantiene una activa cooperación con la Unión Europea. Para ellos es clave, ya que promueve el desarrollo económico y la estabilidad de Túnez. </a:t>
            </a:r>
            <a:endParaRPr lang="es-V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VE" sz="1400" b="1" dirty="0">
                <a:solidFill>
                  <a:srgbClr val="FF0000"/>
                </a:solidFill>
                <a:latin typeface="Arial" panose="020B0604020202020204" pitchFamily="34" charset="0"/>
              </a:rPr>
              <a:t>Alerta: </a:t>
            </a:r>
            <a:r>
              <a:rPr lang="es-VE" sz="1400" dirty="0">
                <a:latin typeface="Arial" panose="020B0604020202020204" pitchFamily="34" charset="0"/>
              </a:rPr>
              <a:t>No recibimos apoyo de parte de autoridades tunecinas a razón del secuestro del Presidente Nicolas Maduro y de la diputada </a:t>
            </a:r>
            <a:r>
              <a:rPr lang="es-VE" sz="1400" dirty="0" err="1">
                <a:latin typeface="Arial" panose="020B0604020202020204" pitchFamily="34" charset="0"/>
              </a:rPr>
              <a:t>Cilia</a:t>
            </a:r>
            <a:r>
              <a:rPr lang="es-VE" sz="1400" dirty="0">
                <a:latin typeface="Arial" panose="020B0604020202020204" pitchFamily="34" charset="0"/>
              </a:rPr>
              <a:t> Flores. </a:t>
            </a:r>
            <a:endParaRPr lang="es-ES" sz="1400" dirty="0">
              <a:latin typeface="Arial" panose="020B0604020202020204" pitchFamily="34" charset="0"/>
            </a:endParaRPr>
          </a:p>
        </p:txBody>
      </p:sp>
      <p:sp>
        <p:nvSpPr>
          <p:cNvPr id="11" name="10 Marco"/>
          <p:cNvSpPr/>
          <p:nvPr/>
        </p:nvSpPr>
        <p:spPr>
          <a:xfrm>
            <a:off x="201307" y="200472"/>
            <a:ext cx="6516724" cy="9577064"/>
          </a:xfrm>
          <a:prstGeom prst="frame">
            <a:avLst>
              <a:gd name="adj1" fmla="val 619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1205</TotalTime>
  <Words>402</Words>
  <Application>Microsoft Office PowerPoint</Application>
  <PresentationFormat>A4 (210 x 297 mm)</PresentationFormat>
  <Paragraphs>18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Renaury Peña</dc:creator>
  <cp:lastModifiedBy>leonardo jose hernandez silva</cp:lastModifiedBy>
  <cp:revision>204</cp:revision>
  <cp:lastPrinted>2024-09-18T20:58:13Z</cp:lastPrinted>
  <dcterms:created xsi:type="dcterms:W3CDTF">2016-09-10T03:54:18Z</dcterms:created>
  <dcterms:modified xsi:type="dcterms:W3CDTF">2026-05-13T15:22:43Z</dcterms:modified>
</cp:coreProperties>
</file>